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74" r:id="rId3"/>
    <p:sldId id="275" r:id="rId4"/>
    <p:sldId id="256" r:id="rId5"/>
    <p:sldId id="258" r:id="rId6"/>
    <p:sldId id="260" r:id="rId7"/>
    <p:sldId id="264" r:id="rId8"/>
    <p:sldId id="267" r:id="rId9"/>
    <p:sldId id="269" r:id="rId10"/>
    <p:sldId id="271" r:id="rId11"/>
    <p:sldId id="276" r:id="rId12"/>
    <p:sldId id="27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oxify_customers_realistic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oxify_customers_realistic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oxify_customers_realistic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oxify_customers_realistic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oxify_customers_realistic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ownloads\boxify_customers_realistic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esktop\Sharpner\boxify_customers_realistic%20case%20study%202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[boxify_customers_realistic.xlsx]Churn rate by customer segment!PivotTable3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2499999999999992"/>
              <c:y val="8.101851851851850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5987510936132984"/>
                  <c:h val="0.1434492563429571"/>
                </c:manualLayout>
              </c15:layout>
            </c:ext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3888888888888926E-2"/>
              <c:y val="-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8.209733158355205E-2"/>
                  <c:h val="0.16659740449110527"/>
                </c:manualLayout>
              </c15:layout>
            </c:ext>
          </c:extLst>
        </c:dLbl>
      </c:pivotFmt>
      <c:pivotFmt>
        <c:idx val="3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2499999999999992"/>
              <c:y val="8.101851851851850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5987510936132984"/>
                  <c:h val="0.1434492563429571"/>
                </c:manualLayout>
              </c15:layout>
            </c:ext>
          </c:extLst>
        </c:dLbl>
      </c:pivotFmt>
      <c:pivotFmt>
        <c:idx val="5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3888888888888926E-2"/>
              <c:y val="-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8.209733158355205E-2"/>
                  <c:h val="0.16659740449110527"/>
                </c:manualLayout>
              </c15:layout>
            </c:ext>
          </c:extLst>
        </c:dLbl>
      </c:pivotFmt>
      <c:pivotFmt>
        <c:idx val="6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0.12499999999999992"/>
              <c:y val="8.1018518518518504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0.15987510936132984"/>
                  <c:h val="0.1434492563429571"/>
                </c:manualLayout>
              </c15:layout>
            </c:ext>
          </c:extLst>
        </c:dLbl>
      </c:pivotFmt>
      <c:pivotFmt>
        <c:idx val="8"/>
        <c:spPr>
          <a:solidFill>
            <a:schemeClr val="accent1"/>
          </a:solidFill>
          <a:ln w="19050">
            <a:solidFill>
              <a:schemeClr val="lt1"/>
            </a:solidFill>
          </a:ln>
          <a:effectLst/>
        </c:spPr>
        <c:dLbl>
          <c:idx val="0"/>
          <c:layout>
            <c:manualLayout>
              <c:x val="-6.3888888888888926E-2"/>
              <c:y val="-3.2407407407407406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layout>
                <c:manualLayout>
                  <c:w val="8.209733158355205E-2"/>
                  <c:h val="0.16659740449110527"/>
                </c:manualLayout>
              </c15:layout>
            </c:ext>
          </c:extLst>
        </c:dLbl>
      </c:pivotFmt>
    </c:pivotFmts>
    <c:plotArea>
      <c:layout/>
      <c:doughnutChart>
        <c:varyColors val="1"/>
        <c:ser>
          <c:idx val="0"/>
          <c:order val="0"/>
          <c:tx>
            <c:strRef>
              <c:f>'Churn rate by customer segment'!$B$3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291-4CD3-8EE6-B7C90E6E73E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291-4CD3-8EE6-B7C90E6E73E5}"/>
              </c:ext>
            </c:extLst>
          </c:dPt>
          <c:dLbls>
            <c:dLbl>
              <c:idx val="0"/>
              <c:layout>
                <c:manualLayout>
                  <c:x val="0.12499999999999992"/>
                  <c:y val="8.10185185185185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5987510936132984"/>
                      <c:h val="0.1434492563429571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E291-4CD3-8EE6-B7C90E6E73E5}"/>
                </c:ext>
              </c:extLst>
            </c:dLbl>
            <c:dLbl>
              <c:idx val="1"/>
              <c:layout>
                <c:manualLayout>
                  <c:x val="-6.3888888888888926E-2"/>
                  <c:y val="-3.240740740740740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209733158355205E-2"/>
                      <c:h val="0.16659740449110527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E291-4CD3-8EE6-B7C90E6E73E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'Churn rate by customer segment'!$A$4:$A$6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'Churn rate by customer segment'!$B$4:$B$6</c:f>
              <c:numCache>
                <c:formatCode>General</c:formatCode>
                <c:ptCount val="2"/>
                <c:pt idx="0">
                  <c:v>551</c:v>
                </c:pt>
                <c:pt idx="1">
                  <c:v>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291-4CD3-8EE6-B7C90E6E73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[boxify_customers_realistic.xlsx]Subscription Type vs Churn!PivotTable4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Subscription Type vs Churn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'Subscription Type vs Churn'!$B$3:$B$4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'Subscription Type vs Churn'!$A$5:$A$8</c:f>
              <c:strCache>
                <c:ptCount val="3"/>
                <c:pt idx="0">
                  <c:v>Annual</c:v>
                </c:pt>
                <c:pt idx="1">
                  <c:v>Monthly</c:v>
                </c:pt>
                <c:pt idx="2">
                  <c:v>Quarterly</c:v>
                </c:pt>
              </c:strCache>
            </c:strRef>
          </c:cat>
          <c:val>
            <c:numRef>
              <c:f>'Subscription Type vs Churn'!$B$5:$B$8</c:f>
              <c:numCache>
                <c:formatCode>0.00%</c:formatCode>
                <c:ptCount val="3"/>
                <c:pt idx="0">
                  <c:v>0.60447761194029848</c:v>
                </c:pt>
                <c:pt idx="1">
                  <c:v>0.60041841004184104</c:v>
                </c:pt>
                <c:pt idx="2">
                  <c:v>0.63541666666666663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84-42A6-9383-BBC4DA174A21}"/>
            </c:ext>
          </c:extLst>
        </c:ser>
        <c:ser>
          <c:idx val="1"/>
          <c:order val="1"/>
          <c:tx>
            <c:strRef>
              <c:f>'Subscription Type vs Churn'!$C$3:$C$4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'Subscription Type vs Churn'!$A$5:$A$8</c:f>
              <c:strCache>
                <c:ptCount val="3"/>
                <c:pt idx="0">
                  <c:v>Annual</c:v>
                </c:pt>
                <c:pt idx="1">
                  <c:v>Monthly</c:v>
                </c:pt>
                <c:pt idx="2">
                  <c:v>Quarterly</c:v>
                </c:pt>
              </c:strCache>
            </c:strRef>
          </c:cat>
          <c:val>
            <c:numRef>
              <c:f>'Subscription Type vs Churn'!$C$5:$C$8</c:f>
              <c:numCache>
                <c:formatCode>0.00%</c:formatCode>
                <c:ptCount val="3"/>
                <c:pt idx="0">
                  <c:v>0.39552238805970147</c:v>
                </c:pt>
                <c:pt idx="1">
                  <c:v>0.39958158995815901</c:v>
                </c:pt>
                <c:pt idx="2">
                  <c:v>0.36458333333333331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84-42A6-9383-BBC4DA174A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0301440"/>
        <c:axId val="1320297600"/>
      </c:barChart>
      <c:catAx>
        <c:axId val="1320301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297600"/>
        <c:crosses val="autoZero"/>
        <c:auto val="1"/>
        <c:lblAlgn val="ctr"/>
        <c:lblOffset val="100"/>
        <c:noMultiLvlLbl val="0"/>
      </c:catAx>
      <c:valAx>
        <c:axId val="132029760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301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[boxify_customers_realistic.xlsx]Engagement vs Churn!PivotTable5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/>
              <a:t>Engagement vs Churn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'Engagement vs Churn'!$B$3:$B$4</c:f>
              <c:strCache>
                <c:ptCount val="1"/>
                <c:pt idx="0">
                  <c:v>Active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'Engagement vs Churn'!$A$5:$A$8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'Engagement vs Churn'!$B$5:$B$8</c:f>
              <c:numCache>
                <c:formatCode>0.00%</c:formatCode>
                <c:ptCount val="3"/>
                <c:pt idx="0">
                  <c:v>0.8657407407407407</c:v>
                </c:pt>
                <c:pt idx="1">
                  <c:v>0.42818428184281843</c:v>
                </c:pt>
                <c:pt idx="2">
                  <c:v>0.65396825396825398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23-4B91-A471-0C4CB950BB51}"/>
            </c:ext>
          </c:extLst>
        </c:ser>
        <c:ser>
          <c:idx val="1"/>
          <c:order val="1"/>
          <c:tx>
            <c:strRef>
              <c:f>'Engagement vs Churn'!$C$3:$C$4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'Engagement vs Churn'!$A$5:$A$8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'Engagement vs Churn'!$C$5:$C$8</c:f>
              <c:numCache>
                <c:formatCode>0.00%</c:formatCode>
                <c:ptCount val="3"/>
                <c:pt idx="0">
                  <c:v>0.13425925925925927</c:v>
                </c:pt>
                <c:pt idx="1">
                  <c:v>0.57181571815718157</c:v>
                </c:pt>
                <c:pt idx="2">
                  <c:v>0.34603174603174602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423-4B91-A471-0C4CB950BB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0289440"/>
        <c:axId val="1320288000"/>
      </c:barChart>
      <c:catAx>
        <c:axId val="1320289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288000"/>
        <c:crosses val="autoZero"/>
        <c:auto val="1"/>
        <c:lblAlgn val="ctr"/>
        <c:lblOffset val="100"/>
        <c:noMultiLvlLbl val="0"/>
      </c:catAx>
      <c:valAx>
        <c:axId val="1320288000"/>
        <c:scaling>
          <c:orientation val="minMax"/>
        </c:scaling>
        <c:delete val="0"/>
        <c:axPos val="l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289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[boxify_customers_realistic.xlsx]Subscription Average Months!PivotTable7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Subscription</a:t>
            </a:r>
            <a:r>
              <a:rPr lang="en-US" baseline="0"/>
              <a:t> Average months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'Subscription Average Months'!$B$3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'Subscription Average Months'!$A$4:$A$6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'Subscription Average Months'!$B$4:$B$6</c:f>
              <c:numCache>
                <c:formatCode>0.00</c:formatCode>
                <c:ptCount val="2"/>
                <c:pt idx="0">
                  <c:v>35.041742286751358</c:v>
                </c:pt>
                <c:pt idx="1">
                  <c:v>6.2521489971346709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17-429D-A494-7A4473A0DE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44715264"/>
        <c:axId val="1444714304"/>
      </c:barChart>
      <c:catAx>
        <c:axId val="144471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4714304"/>
        <c:crosses val="autoZero"/>
        <c:auto val="1"/>
        <c:lblAlgn val="ctr"/>
        <c:lblOffset val="100"/>
        <c:noMultiLvlLbl val="0"/>
      </c:catAx>
      <c:valAx>
        <c:axId val="1444714304"/>
        <c:scaling>
          <c:orientation val="minMax"/>
        </c:scaling>
        <c:delete val="0"/>
        <c:axPos val="l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447152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[boxify_customers_realistic.xlsx]Sheet6!PivotTable8</c:name>
    <c:fmtId val="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0" i="0" u="none" strike="noStrike" baseline="0" dirty="0"/>
              <a:t>Average Revenue per Customer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0116513598711772"/>
          <c:y val="7.4490740740740746E-2"/>
          <c:w val="0.72481611375701083"/>
          <c:h val="0.72125801983085447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622C-461D-A10D-5F587245D642}"/>
              </c:ext>
            </c:extLst>
          </c:dPt>
          <c:dPt>
            <c:idx val="1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22C-461D-A10D-5F587245D64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Sheet6!$A$4:$A$6</c:f>
              <c:strCache>
                <c:ptCount val="2"/>
                <c:pt idx="0">
                  <c:v>Active</c:v>
                </c:pt>
                <c:pt idx="1">
                  <c:v>Churned</c:v>
                </c:pt>
              </c:strCache>
            </c:strRef>
          </c:cat>
          <c:val>
            <c:numRef>
              <c:f>Sheet6!$B$4:$B$6</c:f>
              <c:numCache>
                <c:formatCode>0.00</c:formatCode>
                <c:ptCount val="2"/>
                <c:pt idx="0">
                  <c:v>12621.642123411973</c:v>
                </c:pt>
                <c:pt idx="1">
                  <c:v>8043.7290830945549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D4-4950-B337-DE5F9D8B1D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320278880"/>
        <c:axId val="1320279840"/>
      </c:barChart>
      <c:catAx>
        <c:axId val="1320278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279840"/>
        <c:crosses val="autoZero"/>
        <c:auto val="1"/>
        <c:lblAlgn val="ctr"/>
        <c:lblOffset val="100"/>
        <c:noMultiLvlLbl val="0"/>
      </c:catAx>
      <c:valAx>
        <c:axId val="1320279840"/>
        <c:scaling>
          <c:orientation val="minMax"/>
        </c:scaling>
        <c:delete val="0"/>
        <c:axPos val="b"/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278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[boxify_customers_realistic.xlsx]Sheet7!PivotTable9</c:name>
    <c:fmtId val="3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6.7330927384076991E-2"/>
          <c:y val="2.5428331875182269E-2"/>
          <c:w val="0.72610914260717407"/>
          <c:h val="0.842045056867891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Sheet7!$B$3:$B$4</c:f>
              <c:strCache>
                <c:ptCount val="1"/>
                <c:pt idx="0">
                  <c:v>Annual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Sheet7!$A$5:$A$8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Sheet7!$B$5:$B$8</c:f>
              <c:numCache>
                <c:formatCode>General</c:formatCode>
                <c:ptCount val="3"/>
                <c:pt idx="0">
                  <c:v>7</c:v>
                </c:pt>
                <c:pt idx="1">
                  <c:v>33</c:v>
                </c:pt>
                <c:pt idx="2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D0-4E8E-BAF2-96D9A393D85F}"/>
            </c:ext>
          </c:extLst>
        </c:ser>
        <c:ser>
          <c:idx val="1"/>
          <c:order val="1"/>
          <c:tx>
            <c:strRef>
              <c:f>Sheet7!$C$3:$C$4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Sheet7!$A$5:$A$8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Sheet7!$C$5:$C$8</c:f>
              <c:numCache>
                <c:formatCode>General</c:formatCode>
                <c:ptCount val="3"/>
                <c:pt idx="0">
                  <c:v>14</c:v>
                </c:pt>
                <c:pt idx="1">
                  <c:v>115</c:v>
                </c:pt>
                <c:pt idx="2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D0-4E8E-BAF2-96D9A393D85F}"/>
            </c:ext>
          </c:extLst>
        </c:ser>
        <c:ser>
          <c:idx val="2"/>
          <c:order val="2"/>
          <c:tx>
            <c:strRef>
              <c:f>Sheet7!$D$3:$D$4</c:f>
              <c:strCache>
                <c:ptCount val="1"/>
                <c:pt idx="0">
                  <c:v>Quarterly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Sheet7!$A$5:$A$8</c:f>
              <c:strCache>
                <c:ptCount val="3"/>
                <c:pt idx="0">
                  <c:v>High</c:v>
                </c:pt>
                <c:pt idx="1">
                  <c:v>Low</c:v>
                </c:pt>
                <c:pt idx="2">
                  <c:v>Medium</c:v>
                </c:pt>
              </c:strCache>
            </c:strRef>
          </c:cat>
          <c:val>
            <c:numRef>
              <c:f>Sheet7!$D$5:$D$8</c:f>
              <c:numCache>
                <c:formatCode>General</c:formatCode>
                <c:ptCount val="3"/>
                <c:pt idx="0">
                  <c:v>8</c:v>
                </c:pt>
                <c:pt idx="1">
                  <c:v>63</c:v>
                </c:pt>
                <c:pt idx="2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D0-4E8E-BAF2-96D9A393D8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20315360"/>
        <c:axId val="1320310560"/>
      </c:barChart>
      <c:catAx>
        <c:axId val="1320315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310560"/>
        <c:crosses val="autoZero"/>
        <c:auto val="1"/>
        <c:lblAlgn val="ctr"/>
        <c:lblOffset val="100"/>
        <c:noMultiLvlLbl val="0"/>
      </c:catAx>
      <c:valAx>
        <c:axId val="13203105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203153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[boxify_customers_realistic case study 2.xlsx]Sheet1!PivotTable1</c:name>
    <c:fmtId val="3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Sheet1!$A$4:$A$7</c:f>
              <c:strCache>
                <c:ptCount val="3"/>
                <c:pt idx="0">
                  <c:v>Annual</c:v>
                </c:pt>
                <c:pt idx="1">
                  <c:v>Monthly</c:v>
                </c:pt>
                <c:pt idx="2">
                  <c:v>Quarterly</c:v>
                </c:pt>
              </c:strCache>
            </c:strRef>
          </c:cat>
          <c:val>
            <c:numRef>
              <c:f>Sheet1!$B$4:$B$7</c:f>
              <c:numCache>
                <c:formatCode>General</c:formatCode>
                <c:ptCount val="3"/>
                <c:pt idx="0">
                  <c:v>464548.13999999996</c:v>
                </c:pt>
                <c:pt idx="1">
                  <c:v>1509080.5499999998</c:v>
                </c:pt>
                <c:pt idx="2">
                  <c:v>833632.76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69-41DC-BE28-900968BD70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423920864"/>
        <c:axId val="423924704"/>
      </c:barChart>
      <c:catAx>
        <c:axId val="42392086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3924704"/>
        <c:crosses val="autoZero"/>
        <c:auto val="1"/>
        <c:lblAlgn val="ctr"/>
        <c:lblOffset val="100"/>
        <c:noMultiLvlLbl val="0"/>
      </c:catAx>
      <c:valAx>
        <c:axId val="4239247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23920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9E6C-3DA2-846F-D212-8F05545289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8E565-7519-F195-DA1A-669D1ABA7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A4FF9-0651-468A-5BE3-355A830FA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D0A1E-42F0-1928-A080-A21D25B07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F0FFF-C3F3-1624-7872-E092513B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346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F411E-C26B-EF39-7B9B-F2EBB67D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0F359-F54D-9EEC-6F11-EA3ACFD7B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86318-EC75-D83D-3AE2-2BA82B2B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86EE1-F861-4A74-118D-AF82CF79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10262-7ABC-08B4-01BF-0F233561C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5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B9552-B2A7-EEB0-4EFF-3672E0C4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96BFF-DCB5-BB6D-E8F0-241A25E4A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55A3-D223-7034-AF19-735739B1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7DA597-934A-CC51-4629-C82DB3C9A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93095-AC4A-3243-2E3E-9D348FE5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159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AC18-B4BD-29DC-1BDB-466726907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C83E51-4413-BA3D-39AC-BB6FD0F9C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943F3C-DA8D-6486-5C49-399E728633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417E9F-AD88-F627-61AF-2F8445E0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7AA4F4-D25B-DD36-E3FF-09F3A4134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A77D8-7301-1325-8B89-4309B551C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11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76278-0884-BBAF-4D4A-092D246F0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6B3AA-50EB-BE93-AE0A-17912837A3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73298-D03F-3512-14D3-8E916803F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1EC5E-9307-B5F6-B370-1CBAAA0E5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3C3A4-F5B2-912E-2EE1-C46BCCA31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9AA44-E115-376D-F99C-786128374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053868-56E1-05A5-1CE3-8203CF977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949D0B-583C-26B7-33F7-9469BCA7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1087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F0D0-C604-9E12-2C73-E5FE8A54C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8B2D6-4B1C-5B82-20D2-ED0B09DB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11AF5D-451D-E949-CD8F-4CFFA5CB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BA6CBC-517B-7DA9-3012-F6728EB78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82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F2AF4-E007-FB10-015C-1751877A7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CF65B8-F47C-E68F-C6BC-A7D842079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9E6137-F0DE-8A34-866F-70884806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55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28F9B-9F18-DE1A-883F-E1D10639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2259E-DD4A-7110-F8E6-A20486D57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3D24A-A649-F9F5-AD7F-51CAF1E6A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DEDA2-D428-040D-7B6B-38C74621A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4FAEA-5E9F-4E37-40F9-8515D65C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C106B-2E23-9D61-1A18-2EA0C89B1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948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8382-F47B-43D3-D38C-F8DA8134D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3FD383-942B-B1E7-EAA8-BE27396411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C58D4C-4407-2243-98A6-1AD767A14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29058-D580-9AA9-0AAC-A4BC2E8E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F94D0-0FF3-B1A7-DDA7-2123313B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08DEF-CCCA-E356-6D19-643CC2C4C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713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E512D-5D30-9E44-C4D0-3EC8E59B6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F49693-BF72-C8E7-3025-126A08631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7B704-6FB9-8C1F-8548-87958DFC1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06EA0-6001-50AA-426C-23BC719B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0F0C2-4016-2932-B3DF-3113AC9F0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827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054DA-7928-40F1-A00C-02ECEEF65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AF2F7C-9A57-694C-77D2-D4EFCBE47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064E4-8F6C-D656-BB43-2B1258190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26A08-1FF3-BB83-690E-A612196AE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0A2F-95F9-9E88-E2D9-D3F8EC421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33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D5506D-1920-C6CD-F4DA-6147DA8D5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104F33-908F-E8EF-685B-EC542D9B2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80344-32EC-8C37-057D-B700873E7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4E305D-9EEE-47EF-A92A-5614723F4BC8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8A7EC9-2436-F4DA-8F61-414361A744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9F55-B9BB-7AD5-F6EC-169F397E4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F03A6-FA52-4F7C-95D7-C7B18F9BD7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242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tack of bank cards">
            <a:extLst>
              <a:ext uri="{FF2B5EF4-FFF2-40B4-BE49-F238E27FC236}">
                <a16:creationId xmlns:a16="http://schemas.microsoft.com/office/drawing/2014/main" id="{E24BAD7A-02DB-E8D0-7100-06BE903C0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-237744"/>
            <a:ext cx="12544425" cy="71216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533CD8-82FA-D645-28AE-5C0D006EC5FA}"/>
              </a:ext>
            </a:extLst>
          </p:cNvPr>
          <p:cNvSpPr txBox="1"/>
          <p:nvPr/>
        </p:nvSpPr>
        <p:spPr>
          <a:xfrm>
            <a:off x="0" y="5448300"/>
            <a:ext cx="12687300" cy="1628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4BF17-781E-D817-2505-7435B3E8DA3C}"/>
              </a:ext>
            </a:extLst>
          </p:cNvPr>
          <p:cNvSpPr txBox="1"/>
          <p:nvPr/>
        </p:nvSpPr>
        <p:spPr>
          <a:xfrm>
            <a:off x="356616" y="5192268"/>
            <a:ext cx="7296912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Boxify Customer Churn Analysis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Business Data Analytics Case Study (Excel)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 customer behavior, engagement patterns, and subscription trends to identify churn drivers and recommend retention strategies.</a:t>
            </a:r>
            <a:endParaRPr lang="en-IN" sz="16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561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F8876-465D-86AB-5D1C-B69257A8CBD8}"/>
              </a:ext>
            </a:extLst>
          </p:cNvPr>
          <p:cNvSpPr txBox="1"/>
          <p:nvPr/>
        </p:nvSpPr>
        <p:spPr>
          <a:xfrm>
            <a:off x="804672" y="822960"/>
            <a:ext cx="9646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 &amp; Business Context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8D1F343-ABCB-2BF5-1B5D-9B0E681F7356}"/>
              </a:ext>
            </a:extLst>
          </p:cNvPr>
          <p:cNvCxnSpPr/>
          <p:nvPr/>
        </p:nvCxnSpPr>
        <p:spPr>
          <a:xfrm>
            <a:off x="987552" y="1346180"/>
            <a:ext cx="0" cy="36393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5E2DBA8-DCB5-67FE-6538-6E47C63ECB29}"/>
              </a:ext>
            </a:extLst>
          </p:cNvPr>
          <p:cNvSpPr txBox="1"/>
          <p:nvPr/>
        </p:nvSpPr>
        <p:spPr>
          <a:xfrm>
            <a:off x="1138428" y="1465052"/>
            <a:ext cx="8979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Boxify is an online subscription box service that delivers lifestyle products to customers on a monthly, quarterly, or annual basis.</a:t>
            </a:r>
          </a:p>
          <a:p>
            <a:r>
              <a:rPr lang="en-US" dirty="0"/>
              <a:t>• Recently, Boxify has seen many customers cancelling within the first few months.</a:t>
            </a:r>
          </a:p>
          <a:p>
            <a:r>
              <a:rPr lang="en-US" dirty="0"/>
              <a:t>•This is making revenue less predictable and slowing growth.</a:t>
            </a:r>
          </a:p>
          <a:p>
            <a:r>
              <a:rPr lang="en-US" dirty="0"/>
              <a:t>• The management team wants to understand the key reasons behind customer cancellations and identify which customer segments are most at risk.</a:t>
            </a:r>
          </a:p>
          <a:p>
            <a:r>
              <a:rPr lang="en-US" dirty="0"/>
              <a:t>• The main goal of this analysis is to use customer data to uncover churn patterns and provide practical recommendations to improve customer retention.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83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79BC91-677F-BDEE-3912-165F5A23B9E6}"/>
              </a:ext>
            </a:extLst>
          </p:cNvPr>
          <p:cNvSpPr txBox="1"/>
          <p:nvPr/>
        </p:nvSpPr>
        <p:spPr>
          <a:xfrm>
            <a:off x="987552" y="722376"/>
            <a:ext cx="9464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EDA Overview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A830405-A82F-D443-8D94-8DEE01B29024}"/>
              </a:ext>
            </a:extLst>
          </p:cNvPr>
          <p:cNvCxnSpPr/>
          <p:nvPr/>
        </p:nvCxnSpPr>
        <p:spPr>
          <a:xfrm>
            <a:off x="1152144" y="1327892"/>
            <a:ext cx="0" cy="363931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37F7B70-4793-C88D-8B59-E9D568B17414}"/>
              </a:ext>
            </a:extLst>
          </p:cNvPr>
          <p:cNvSpPr txBox="1"/>
          <p:nvPr/>
        </p:nvSpPr>
        <p:spPr>
          <a:xfrm>
            <a:off x="1319784" y="1435608"/>
            <a:ext cx="94640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We started by understanding the customer dataset, which includes details like age, location, subscription plan, engagement level, and subscription duration.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Basic data checks were done to see how many customers are active and how many have cancelled their subscriptions.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Some data preparation steps were taken, such as fixing date formats and creating helpful columns like churn status and customer groups.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dirty="0"/>
              <a:t>This step helped ensure the data was ready for meaningful business analysis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30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8E5F96-D123-2DDA-046B-A682147942EA}"/>
              </a:ext>
            </a:extLst>
          </p:cNvPr>
          <p:cNvSpPr txBox="1"/>
          <p:nvPr/>
        </p:nvSpPr>
        <p:spPr>
          <a:xfrm>
            <a:off x="1344168" y="339685"/>
            <a:ext cx="8714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High Customer Churn is a Concern for Boxify</a:t>
            </a:r>
            <a:endParaRPr lang="en-IN" sz="2800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B967A5E-A279-4167-00B3-C488DC3307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8089899"/>
              </p:ext>
            </p:extLst>
          </p:nvPr>
        </p:nvGraphicFramePr>
        <p:xfrm>
          <a:off x="225552" y="1591056"/>
          <a:ext cx="5599176" cy="3182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AF5DEB-81DC-A942-4A00-6287CFBCC4D4}"/>
              </a:ext>
            </a:extLst>
          </p:cNvPr>
          <p:cNvSpPr txBox="1"/>
          <p:nvPr/>
        </p:nvSpPr>
        <p:spPr>
          <a:xfrm>
            <a:off x="6096000" y="1773936"/>
            <a:ext cx="5443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Out of total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900 customers, 349 customers have already left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indicates a significant retention issue.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Although majority of customers are still active, the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churn proportion is too large to ignore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 long-term growth perspective.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400" dirty="0"/>
              <a:t>This shows that simply bringing new customers is not enough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the company must focus on improving customer experience and engagement.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1DC24-4BCF-5F20-18EF-904AF4138C9F}"/>
              </a:ext>
            </a:extLst>
          </p:cNvPr>
          <p:cNvSpPr txBox="1"/>
          <p:nvPr/>
        </p:nvSpPr>
        <p:spPr>
          <a:xfrm>
            <a:off x="1344168" y="5056632"/>
            <a:ext cx="993952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 </a:t>
            </a:r>
          </a:p>
          <a:p>
            <a:r>
              <a:rPr lang="en-US" sz="1600" dirty="0"/>
              <a:t>A high churn rate of nearly </a:t>
            </a:r>
            <a:r>
              <a:rPr lang="en-US" sz="1600" b="1" dirty="0"/>
              <a:t>40% signals an urgent need for retention strategies at Boxify.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6327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C6ADFF-1FB6-D1A5-46D1-293F33FC1E99}"/>
              </a:ext>
            </a:extLst>
          </p:cNvPr>
          <p:cNvSpPr txBox="1"/>
          <p:nvPr/>
        </p:nvSpPr>
        <p:spPr>
          <a:xfrm>
            <a:off x="1477818" y="350982"/>
            <a:ext cx="9476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Customer Churn is Consistent Across Subscription Plans</a:t>
            </a:r>
            <a:endParaRPr lang="en-IN" sz="28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077C286-4A7A-86C9-1088-F05124BF49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685168"/>
              </p:ext>
            </p:extLst>
          </p:nvPr>
        </p:nvGraphicFramePr>
        <p:xfrm>
          <a:off x="658523" y="1036059"/>
          <a:ext cx="5871586" cy="397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272A8EA-49A9-B5AF-8E64-3577A07E5FD3}"/>
              </a:ext>
            </a:extLst>
          </p:cNvPr>
          <p:cNvSpPr txBox="1"/>
          <p:nvPr/>
        </p:nvSpPr>
        <p:spPr>
          <a:xfrm>
            <a:off x="6825673" y="1403927"/>
            <a:ext cx="515389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(Put 3 points)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When we look at churn across different subscription plans, we notice that the difference is not very large. Customers are leaving from all plan types at almost similar rates.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This suggests that the pricing structure or plan duration alone may not be the main reason behind customer drop-off.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It indicates that the issue could be related to overall service experience, customer expectations, or engagement rather than the type of subscription chosen.</a:t>
            </a:r>
          </a:p>
          <a:p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0C86C-8407-2927-B4CA-016BC4C38F62}"/>
              </a:ext>
            </a:extLst>
          </p:cNvPr>
          <p:cNvSpPr txBox="1"/>
          <p:nvPr/>
        </p:nvSpPr>
        <p:spPr>
          <a:xfrm>
            <a:off x="1477817" y="5360276"/>
            <a:ext cx="98274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 churn appears to be a broader business issue rather than being limited to any specific subscription plan. </a:t>
            </a:r>
            <a:r>
              <a:rPr lang="en-US" dirty="0"/>
              <a:t>Although churn percentage looks similar, the higher number of monthly customers makes its financial impact larger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546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67D065-E22C-1B1F-899F-F0135B2084A5}"/>
              </a:ext>
            </a:extLst>
          </p:cNvPr>
          <p:cNvSpPr txBox="1"/>
          <p:nvPr/>
        </p:nvSpPr>
        <p:spPr>
          <a:xfrm>
            <a:off x="1976582" y="360218"/>
            <a:ext cx="92086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Low Engagement Customers Are More Likely to Leave</a:t>
            </a:r>
            <a:endParaRPr lang="en-IN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F5D3D4F-579A-6261-4CF3-FD09AF626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3837242"/>
              </p:ext>
            </p:extLst>
          </p:nvPr>
        </p:nvGraphicFramePr>
        <p:xfrm>
          <a:off x="623166" y="1195460"/>
          <a:ext cx="5810250" cy="40052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7E90703-A79D-2A1E-0715-8A9B5E65B0B2}"/>
              </a:ext>
            </a:extLst>
          </p:cNvPr>
          <p:cNvSpPr txBox="1"/>
          <p:nvPr/>
        </p:nvSpPr>
        <p:spPr>
          <a:xfrm>
            <a:off x="6936509" y="1311564"/>
            <a:ext cx="5052291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From the data, we can see that customers with low engagement are leaving much more compared to those who actively use the service.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Customers who interact more with the platform, receive boxes regularly, and stay involved tend to continue their subscription.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This shows that churn is not only about pricing or plan type — it is also about how connected customers feel with the service.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0EAD6-B27B-4AC5-F254-1EC26293BE06}"/>
              </a:ext>
            </a:extLst>
          </p:cNvPr>
          <p:cNvSpPr txBox="1"/>
          <p:nvPr/>
        </p:nvSpPr>
        <p:spPr>
          <a:xfrm>
            <a:off x="1976582" y="5597236"/>
            <a:ext cx="988290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</a:t>
            </a:r>
          </a:p>
          <a:p>
            <a:r>
              <a:rPr lang="en-US" sz="1600" b="1" dirty="0"/>
              <a:t>Engagement plays a major role in whether a customer stays or leaves.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0953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60FD726-362C-F8DE-4F95-59A986FCD3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4766153"/>
              </p:ext>
            </p:extLst>
          </p:nvPr>
        </p:nvGraphicFramePr>
        <p:xfrm>
          <a:off x="623455" y="1309254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CF38EBF-1434-1089-A14A-C2CD77ED9966}"/>
              </a:ext>
            </a:extLst>
          </p:cNvPr>
          <p:cNvSpPr txBox="1"/>
          <p:nvPr/>
        </p:nvSpPr>
        <p:spPr>
          <a:xfrm>
            <a:off x="1690256" y="369455"/>
            <a:ext cx="9421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Customers Who Stay Longer Are Less Likely to Churn</a:t>
            </a:r>
            <a:endParaRPr lang="en-IN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44E72A-D3B1-4892-7BE2-E62E545ADA89}"/>
              </a:ext>
            </a:extLst>
          </p:cNvPr>
          <p:cNvSpPr txBox="1"/>
          <p:nvPr/>
        </p:nvSpPr>
        <p:spPr>
          <a:xfrm>
            <a:off x="6336145" y="1293091"/>
            <a:ext cx="53940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Business Insight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customers who cancel do it </a:t>
            </a:r>
            <a:r>
              <a:rPr lang="en-US" sz="1400" b="1" dirty="0"/>
              <a:t>very early</a:t>
            </a:r>
            <a:r>
              <a:rPr lang="en-US" sz="1400" dirty="0"/>
              <a:t>, usually within the first few months.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a customer stays beyond the initial months, they are </a:t>
            </a:r>
            <a:r>
              <a:rPr lang="en-US" sz="1400" b="1" dirty="0"/>
              <a:t>much more likely to continue long-term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This clearly shows that the </a:t>
            </a:r>
            <a:r>
              <a:rPr lang="en-US" sz="1400" b="1" dirty="0"/>
              <a:t>starting experience matters the most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Customers who don’t find value quickly tend to </a:t>
            </a:r>
            <a:r>
              <a:rPr lang="en-US" sz="1400" b="1" dirty="0"/>
              <a:t>lose interest and leave</a:t>
            </a:r>
            <a:r>
              <a:rPr lang="en-US" sz="14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Improving the </a:t>
            </a:r>
            <a:r>
              <a:rPr lang="en-US" sz="1400" b="1" dirty="0"/>
              <a:t>first few months’ experience</a:t>
            </a:r>
            <a:r>
              <a:rPr lang="en-US" sz="1400" dirty="0"/>
              <a:t> can directly reduce churn. </a:t>
            </a:r>
          </a:p>
          <a:p>
            <a:endParaRPr lang="en-IN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1C0989-D257-DA36-F815-476E5DE61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05378"/>
              </p:ext>
            </p:extLst>
          </p:nvPr>
        </p:nvGraphicFramePr>
        <p:xfrm>
          <a:off x="6702553" y="3802184"/>
          <a:ext cx="2959100" cy="76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75361">
                  <a:extLst>
                    <a:ext uri="{9D8B030D-6E8A-4147-A177-3AD203B41FA5}">
                      <a16:colId xmlns:a16="http://schemas.microsoft.com/office/drawing/2014/main" val="4221374310"/>
                    </a:ext>
                  </a:extLst>
                </a:gridCol>
                <a:gridCol w="2083739">
                  <a:extLst>
                    <a:ext uri="{9D8B030D-6E8A-4147-A177-3AD203B41FA5}">
                      <a16:colId xmlns:a16="http://schemas.microsoft.com/office/drawing/2014/main" val="100558222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Average of Subscription Duration 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749348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Active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35.04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13634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Churned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6.25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84086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23.88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1906169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7CECB01-FC2B-D955-A25C-A955CE677E3E}"/>
              </a:ext>
            </a:extLst>
          </p:cNvPr>
          <p:cNvSpPr txBox="1"/>
          <p:nvPr/>
        </p:nvSpPr>
        <p:spPr>
          <a:xfrm>
            <a:off x="812800" y="4645891"/>
            <a:ext cx="1056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 </a:t>
            </a:r>
            <a:br>
              <a:rPr lang="en-US" b="1" dirty="0"/>
            </a:br>
            <a:r>
              <a:rPr lang="en-US" dirty="0"/>
              <a:t>Churn is heavily concentrated in the early lifecycle stage, making the first few months the most critical period for customer retention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66492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75427C-0770-009C-C889-038D6510B084}"/>
              </a:ext>
            </a:extLst>
          </p:cNvPr>
          <p:cNvSpPr txBox="1"/>
          <p:nvPr/>
        </p:nvSpPr>
        <p:spPr>
          <a:xfrm>
            <a:off x="1366982" y="471055"/>
            <a:ext cx="9310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Active Customers Generate Higher Lifetime Value</a:t>
            </a:r>
            <a:endParaRPr lang="en-IN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0F22D1D4-4CDE-4403-F233-95D09CB89F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3395011"/>
              </p:ext>
            </p:extLst>
          </p:nvPr>
        </p:nvGraphicFramePr>
        <p:xfrm>
          <a:off x="309273" y="1373909"/>
          <a:ext cx="6230072" cy="2976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40E0BDD-3769-87D2-FA90-B182BBE9D3BE}"/>
              </a:ext>
            </a:extLst>
          </p:cNvPr>
          <p:cNvSpPr txBox="1"/>
          <p:nvPr/>
        </p:nvSpPr>
        <p:spPr>
          <a:xfrm>
            <a:off x="6761018" y="1431636"/>
            <a:ext cx="504305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Insight 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Customers who stay longer spend more money on the platform.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can see that active customers generate much higher revenue compared to those who churn early.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average, an active customer contributes around ₹12.6K, while a churned customer contributes only about ₹8K.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shows that early churn is directly reducing Boxify’s overall business revenue.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6F0D64-9146-DC02-DAEA-A0961E3892F0}"/>
              </a:ext>
            </a:extLst>
          </p:cNvPr>
          <p:cNvSpPr txBox="1"/>
          <p:nvPr/>
        </p:nvSpPr>
        <p:spPr>
          <a:xfrm>
            <a:off x="1366982" y="4544292"/>
            <a:ext cx="978130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 </a:t>
            </a:r>
          </a:p>
          <a:p>
            <a:r>
              <a:rPr lang="en-US" sz="1600" dirty="0"/>
              <a:t>Keeping customers engaged for longer duration can significantly increase total company revenue.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289403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A90356-94BB-0073-63D4-D0D7D47BD35C}"/>
              </a:ext>
            </a:extLst>
          </p:cNvPr>
          <p:cNvSpPr txBox="1"/>
          <p:nvPr/>
        </p:nvSpPr>
        <p:spPr>
          <a:xfrm>
            <a:off x="2835563" y="175490"/>
            <a:ext cx="9023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/>
              <a:t>High-Risk Customer Segment Identified</a:t>
            </a:r>
            <a:endParaRPr lang="en-IN" sz="2800" b="1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1854E8E-0AA1-6D9E-4B15-55BF220F367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2524131"/>
              </p:ext>
            </p:extLst>
          </p:nvPr>
        </p:nvGraphicFramePr>
        <p:xfrm>
          <a:off x="614218" y="163252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57B24E-164D-2537-7BED-F724012ABAA4}"/>
              </a:ext>
            </a:extLst>
          </p:cNvPr>
          <p:cNvSpPr txBox="1"/>
          <p:nvPr/>
        </p:nvSpPr>
        <p:spPr>
          <a:xfrm>
            <a:off x="6696364" y="1632527"/>
            <a:ext cx="51631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Business Insight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Most churn is coming from customers with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low engagement levels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especially those on 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monthly subscription plans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suggests that customers who do not actively interact with the platform fail to see long-term value and cancel early.</a:t>
            </a: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Short-term plans make it easier for such customers to leave without building loyalty.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B3ACB7-F885-26C1-44FE-39F6CFF457AA}"/>
              </a:ext>
            </a:extLst>
          </p:cNvPr>
          <p:cNvSpPr txBox="1"/>
          <p:nvPr/>
        </p:nvSpPr>
        <p:spPr>
          <a:xfrm>
            <a:off x="2835563" y="5001767"/>
            <a:ext cx="870065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r>
              <a:rPr lang="en-US" sz="1600" dirty="0"/>
              <a:t>Low engagement customers on monthly plans represent the highest churn risk segment.</a:t>
            </a:r>
            <a:endParaRPr lang="en-US" sz="16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12438C-D746-4059-439D-47EF0AC07F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38760"/>
              </p:ext>
            </p:extLst>
          </p:nvPr>
        </p:nvGraphicFramePr>
        <p:xfrm>
          <a:off x="6728691" y="3429000"/>
          <a:ext cx="5130800" cy="1524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19167">
                  <a:extLst>
                    <a:ext uri="{9D8B030D-6E8A-4147-A177-3AD203B41FA5}">
                      <a16:colId xmlns:a16="http://schemas.microsoft.com/office/drawing/2014/main" val="3890528045"/>
                    </a:ext>
                  </a:extLst>
                </a:gridCol>
                <a:gridCol w="1090850">
                  <a:extLst>
                    <a:ext uri="{9D8B030D-6E8A-4147-A177-3AD203B41FA5}">
                      <a16:colId xmlns:a16="http://schemas.microsoft.com/office/drawing/2014/main" val="163065540"/>
                    </a:ext>
                  </a:extLst>
                </a:gridCol>
                <a:gridCol w="837164">
                  <a:extLst>
                    <a:ext uri="{9D8B030D-6E8A-4147-A177-3AD203B41FA5}">
                      <a16:colId xmlns:a16="http://schemas.microsoft.com/office/drawing/2014/main" val="593571448"/>
                    </a:ext>
                  </a:extLst>
                </a:gridCol>
                <a:gridCol w="1132074">
                  <a:extLst>
                    <a:ext uri="{9D8B030D-6E8A-4147-A177-3AD203B41FA5}">
                      <a16:colId xmlns:a16="http://schemas.microsoft.com/office/drawing/2014/main" val="546728529"/>
                    </a:ext>
                  </a:extLst>
                </a:gridCol>
                <a:gridCol w="751545">
                  <a:extLst>
                    <a:ext uri="{9D8B030D-6E8A-4147-A177-3AD203B41FA5}">
                      <a16:colId xmlns:a16="http://schemas.microsoft.com/office/drawing/2014/main" val="3248097384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Churn Status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Churned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60072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56355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Count of CustomerID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Column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230214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Row Labels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Annual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Monthly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Quarterly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979411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High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7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8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394747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Low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115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211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834654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Medium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34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29791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Grand 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53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191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>
                          <a:effectLst/>
                        </a:rPr>
                        <a:t>105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100" u="none" strike="noStrike" dirty="0">
                          <a:effectLst/>
                        </a:rPr>
                        <a:t>349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94863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534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30D3D0-F0D4-350F-4C1C-AC93EE28DD34}"/>
              </a:ext>
            </a:extLst>
          </p:cNvPr>
          <p:cNvSpPr txBox="1"/>
          <p:nvPr/>
        </p:nvSpPr>
        <p:spPr>
          <a:xfrm>
            <a:off x="2167128" y="210312"/>
            <a:ext cx="8705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Revenue Loss Due to Customer Churn</a:t>
            </a:r>
            <a:endParaRPr lang="en-IN" sz="2800" b="1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A494843-D2AA-5660-542B-0CC67BAE5F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57182479"/>
              </p:ext>
            </p:extLst>
          </p:nvPr>
        </p:nvGraphicFramePr>
        <p:xfrm>
          <a:off x="542163" y="1239297"/>
          <a:ext cx="5819013" cy="4146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0E7DC8-6E38-9956-CF11-ED398A25E16C}"/>
              </a:ext>
            </a:extLst>
          </p:cNvPr>
          <p:cNvSpPr txBox="1"/>
          <p:nvPr/>
        </p:nvSpPr>
        <p:spPr>
          <a:xfrm>
            <a:off x="7013448" y="1298448"/>
            <a:ext cx="47914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Key Insight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Most revenue loss is coming from the </a:t>
            </a:r>
            <a:r>
              <a:rPr lang="en-US" sz="1400" b="1" dirty="0"/>
              <a:t>monthly plan</a:t>
            </a:r>
            <a:r>
              <a:rPr lang="en-US" sz="1400" dirty="0"/>
              <a:t>, mainly because it has a </a:t>
            </a:r>
            <a:r>
              <a:rPr lang="en-US" sz="1400" b="1" dirty="0"/>
              <a:t>higher number of churned customers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churn rate and average spending per customer are almost similar</a:t>
            </a:r>
            <a:r>
              <a:rPr lang="en-US" sz="1400" dirty="0"/>
              <a:t> across all subscription plans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So the problem is not the plan — it’s that </a:t>
            </a:r>
            <a:r>
              <a:rPr lang="en-US" sz="1400" b="1" dirty="0"/>
              <a:t>more monthly users are churning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If we reduce churn in monthly users, we can </a:t>
            </a:r>
            <a:r>
              <a:rPr lang="en-US" sz="1400" b="1" dirty="0"/>
              <a:t>quickly reduce overall revenue loss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73923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1C2B69-8863-416E-3427-BB5CCA4633C7}"/>
              </a:ext>
            </a:extLst>
          </p:cNvPr>
          <p:cNvSpPr txBox="1"/>
          <p:nvPr/>
        </p:nvSpPr>
        <p:spPr>
          <a:xfrm>
            <a:off x="714756" y="940826"/>
            <a:ext cx="107624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Findings from the Analysis</a:t>
            </a:r>
            <a:endParaRPr lang="en-IN" sz="28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AC729FE-2D39-8383-5C80-5476A1725B99}"/>
              </a:ext>
            </a:extLst>
          </p:cNvPr>
          <p:cNvCxnSpPr/>
          <p:nvPr/>
        </p:nvCxnSpPr>
        <p:spPr>
          <a:xfrm>
            <a:off x="1033272" y="1528054"/>
            <a:ext cx="0" cy="419709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6E0B8C6-6282-39E2-AA1F-19C75887798A}"/>
              </a:ext>
            </a:extLst>
          </p:cNvPr>
          <p:cNvSpPr txBox="1"/>
          <p:nvPr/>
        </p:nvSpPr>
        <p:spPr>
          <a:xfrm>
            <a:off x="1191768" y="1537198"/>
            <a:ext cx="99669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 large number of customers are cancelling their subscriptions, which is becoming a serious concern for    Boxify’s revenue stability.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Most cancellations are happening in the monthly subscription plan, mainly because customers can leave easily without long-term commitment.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Customers who interact less with the platform or receive fewer boxes are much more likely to churn.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Many customers tend to cancel within the first few months, which suggests that the initial experience is not strong enough to retain them.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Customers who stay longer contribute significantly more revenue, showing that retention plays a key role in overall business growth.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From a financial perspective, churn in short-term plans is causing the biggest impact due to the high number of customers leaving.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highest risk group mainly includes new users who are less engaged and subscribed to short-duration plans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2790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7FD3BB-04EF-180B-B686-05F686E49B54}"/>
              </a:ext>
            </a:extLst>
          </p:cNvPr>
          <p:cNvSpPr txBox="1"/>
          <p:nvPr/>
        </p:nvSpPr>
        <p:spPr>
          <a:xfrm>
            <a:off x="822960" y="402336"/>
            <a:ext cx="10232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&amp; Expected Business Impact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EC31A4E-F4B7-62FB-9892-989324E99A5A}"/>
              </a:ext>
            </a:extLst>
          </p:cNvPr>
          <p:cNvCxnSpPr>
            <a:cxnSpLocks/>
          </p:cNvCxnSpPr>
          <p:nvPr/>
        </p:nvCxnSpPr>
        <p:spPr>
          <a:xfrm>
            <a:off x="1014984" y="925556"/>
            <a:ext cx="0" cy="4195084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5C1759A-5F7C-C5F8-819E-B5193D1870A5}"/>
              </a:ext>
            </a:extLst>
          </p:cNvPr>
          <p:cNvSpPr txBox="1"/>
          <p:nvPr/>
        </p:nvSpPr>
        <p:spPr>
          <a:xfrm>
            <a:off x="1344168" y="1060704"/>
            <a:ext cx="991209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Improve </a:t>
            </a:r>
            <a:r>
              <a:rPr lang="en-US" sz="2000" b="1" dirty="0"/>
              <a:t>first-month experience</a:t>
            </a:r>
            <a:r>
              <a:rPr lang="en-US" sz="2000" dirty="0"/>
              <a:t> with simple guides and onboarding support → can reduce early churn.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Increase </a:t>
            </a:r>
            <a:r>
              <a:rPr lang="en-US" sz="2000" b="1" dirty="0"/>
              <a:t>engagement for low-activity users</a:t>
            </a:r>
            <a:r>
              <a:rPr lang="en-US" sz="2000" dirty="0"/>
              <a:t> through reminders, feedback, and small rewards.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Encourage users to shift from </a:t>
            </a:r>
            <a:r>
              <a:rPr lang="en-US" sz="2000" b="1" dirty="0"/>
              <a:t>monthly to longer plans</a:t>
            </a:r>
            <a:r>
              <a:rPr lang="en-US" sz="2000" dirty="0"/>
              <a:t> using offers and added benefits.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Identify </a:t>
            </a:r>
            <a:r>
              <a:rPr lang="en-US" sz="2000" b="1" dirty="0"/>
              <a:t>at-risk customers early</a:t>
            </a:r>
            <a:r>
              <a:rPr lang="en-US" sz="2000" dirty="0"/>
              <a:t> (low engagement, short duration) and take action before they leave.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Focus retention efforts mainly on </a:t>
            </a:r>
            <a:r>
              <a:rPr lang="en-US" sz="2000" b="1" dirty="0"/>
              <a:t>monthly users</a:t>
            </a:r>
            <a:r>
              <a:rPr lang="en-US" sz="2000" dirty="0"/>
              <a:t>, as they contribute most to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Give </a:t>
            </a:r>
            <a:r>
              <a:rPr lang="en-US" sz="2000" b="1" dirty="0"/>
              <a:t>first 2 months discount (₹100–₹200 off)</a:t>
            </a:r>
            <a:r>
              <a:rPr lang="en-US" sz="2000" dirty="0"/>
              <a:t> for new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Target </a:t>
            </a:r>
            <a:r>
              <a:rPr lang="en-US" sz="2000" b="1" dirty="0"/>
              <a:t>low engagement users</a:t>
            </a:r>
            <a:r>
              <a:rPr lang="en-US" sz="2000" dirty="0"/>
              <a:t> with personalized offers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Run </a:t>
            </a:r>
            <a:r>
              <a:rPr lang="en-US" sz="2000" b="1" dirty="0"/>
              <a:t>retention campaigns only for monthly users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33785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2106</TotalTime>
  <Words>1228</Words>
  <Application>Microsoft Office PowerPoint</Application>
  <PresentationFormat>Widescreen</PresentationFormat>
  <Paragraphs>124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Pramitava Das [MBA - 2023]</dc:creator>
  <cp:lastModifiedBy>Pramitava Das [MBA - 2023]</cp:lastModifiedBy>
  <cp:revision>6</cp:revision>
  <dcterms:created xsi:type="dcterms:W3CDTF">2026-03-16T19:04:06Z</dcterms:created>
  <dcterms:modified xsi:type="dcterms:W3CDTF">2026-04-01T18:48:22Z</dcterms:modified>
</cp:coreProperties>
</file>